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notesMasterIdLst>
    <p:notesMasterId r:id="rId36"/>
  </p:notesMasterIdLst>
  <p:sldIdLst>
    <p:sldId id="265" r:id="rId5"/>
    <p:sldId id="290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447" autoAdjust="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60AFF4-E67C-41D6-A58E-E6071C1D1ACB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8EA890-B426-4988-B743-8172F08392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0579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8EA890-B426-4988-B743-8172F08392C2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6031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  <a:prstGeom prst="rect">
            <a:avLst/>
          </a:prstGeo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/>
          <a:lstStyle/>
          <a:p>
            <a:fld id="{9184DA70-C731-4C70-880D-CCD4705E623C}" type="datetime1">
              <a:rPr lang="en-US" smtClean="0"/>
              <a:t>1/31/2026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/>
          <a:lstStyle/>
          <a:p>
            <a:fld id="{4BE1D723-8F53-4F53-90B0-1982A396982E}" type="datetime1">
              <a:rPr lang="en-US" smtClean="0"/>
              <a:t>1/31/2026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  <a:prstGeom prst="rect">
            <a:avLst/>
          </a:prstGeo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/>
          <a:lstStyle/>
          <a:p>
            <a:fld id="{97669AF7-7BEB-44E4-9852-375E34362B5B}" type="datetime1">
              <a:rPr lang="en-US" smtClean="0"/>
              <a:t>1/31/2026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/>
          <a:lstStyle/>
          <a:p>
            <a:fld id="{BAAAC38D-0552-4C82-B593-E6124DFADBE2}" type="datetime1">
              <a:rPr lang="en-US" smtClean="0"/>
              <a:t>1/31/2026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  <a:prstGeom prst="rect">
            <a:avLst/>
          </a:prstGeo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  <a:prstGeom prst="rect">
            <a:avLst/>
          </a:prstGeo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/>
          <a:lstStyle/>
          <a:p>
            <a:fld id="{D9DF0F1C-5577-4ACB-BB62-DF8F3C494C7E}" type="datetime1">
              <a:rPr lang="en-US" smtClean="0"/>
              <a:t>1/31/2026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/>
          <a:lstStyle/>
          <a:p>
            <a:fld id="{1775B394-D9F9-4F0C-B15D-605F45CB9E9F}" type="datetime1">
              <a:rPr lang="en-US" smtClean="0"/>
              <a:t>1/31/2026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  <a:prstGeom prst="rect">
            <a:avLst/>
          </a:prstGeo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  <a:prstGeom prst="rect">
            <a:avLst/>
          </a:prstGeo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/>
          <a:lstStyle/>
          <a:p>
            <a:fld id="{B612A279-0833-481D-8C56-F67FD0AC6C50}" type="datetime1">
              <a:rPr lang="en-US" smtClean="0"/>
              <a:t>1/31/2026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  <a:prstGeom prst="rect">
            <a:avLst/>
          </a:prstGeo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/>
          <a:lstStyle/>
          <a:p>
            <a:fld id="{6587DA83-5663-4C9C-B9AA-0B40A3DAFF81}" type="datetime1">
              <a:rPr lang="en-US" smtClean="0"/>
              <a:t>1/31/2026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855A3AB-EDC8-2C38-352B-54595CE2F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1770" y="75303"/>
            <a:ext cx="3332631" cy="17417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62E664-A3AF-45AD-13D7-6B3D41C658D1}"/>
              </a:ext>
            </a:extLst>
          </p:cNvPr>
          <p:cNvSpPr txBox="1"/>
          <p:nvPr/>
        </p:nvSpPr>
        <p:spPr>
          <a:xfrm>
            <a:off x="7489371" y="2463931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INTERNSHIP PROGRAM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281325-4041-0F1F-F19B-DB284FF83C6D}"/>
              </a:ext>
            </a:extLst>
          </p:cNvPr>
          <p:cNvSpPr txBox="1"/>
          <p:nvPr/>
        </p:nvSpPr>
        <p:spPr>
          <a:xfrm>
            <a:off x="7926401" y="342900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Analysis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F083FD-C3AD-0464-ABE7-23013185E781}"/>
              </a:ext>
            </a:extLst>
          </p:cNvPr>
          <p:cNvSpPr txBox="1"/>
          <p:nvPr/>
        </p:nvSpPr>
        <p:spPr>
          <a:xfrm>
            <a:off x="8175170" y="4835919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Prepared by</a:t>
            </a:r>
          </a:p>
          <a:p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- </a:t>
            </a:r>
            <a:r>
              <a:rPr lang="en-IN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Thanesh</a:t>
            </a:r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6609B9A-18CE-B998-C0E8-27A7B1CBA7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4929"/>
            <a:ext cx="7582263" cy="6368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494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28B99E-E324-0DF4-AA8A-3E9DA51A09B5}"/>
              </a:ext>
            </a:extLst>
          </p:cNvPr>
          <p:cNvSpPr txBox="1"/>
          <p:nvPr/>
        </p:nvSpPr>
        <p:spPr>
          <a:xfrm>
            <a:off x="312783" y="387532"/>
            <a:ext cx="4455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Overview :</a:t>
            </a:r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A5FA6A-7826-6624-7117-3EF1BC1B6931}"/>
              </a:ext>
            </a:extLst>
          </p:cNvPr>
          <p:cNvSpPr txBox="1"/>
          <p:nvPr/>
        </p:nvSpPr>
        <p:spPr>
          <a:xfrm>
            <a:off x="848361" y="1343599"/>
            <a:ext cx="1124566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 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US" sz="2800" dirty="0"/>
              <a:t>To analyze restaurant data and identify key insights related to </a:t>
            </a:r>
            <a:r>
              <a:rPr lang="en-US" sz="2800" b="1" dirty="0"/>
              <a:t>ratings, chains, cuisines, and locations</a:t>
            </a:r>
            <a:r>
              <a:rPr lang="en-US" sz="2800" dirty="0"/>
              <a:t>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485900" lvl="2" indent="-5715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33FF3B-638E-CCF2-6467-AC0DCEBB6A05}"/>
              </a:ext>
            </a:extLst>
          </p:cNvPr>
          <p:cNvSpPr txBox="1"/>
          <p:nvPr/>
        </p:nvSpPr>
        <p:spPr>
          <a:xfrm>
            <a:off x="848361" y="3590368"/>
            <a:ext cx="1124566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 &amp; Technologies Used 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</a:t>
            </a: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(Pandas, NumPy)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Visualization</a:t>
            </a: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(Matplotlib, Seaborn, Folium)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IN" sz="2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Jupyter</a:t>
            </a:r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Notebook</a:t>
            </a:r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485900" lvl="2" indent="-571500"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5035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08BC83-8BE0-D1C8-2826-D2F89C7AFD89}"/>
              </a:ext>
            </a:extLst>
          </p:cNvPr>
          <p:cNvSpPr txBox="1"/>
          <p:nvPr/>
        </p:nvSpPr>
        <p:spPr>
          <a:xfrm>
            <a:off x="4841240" y="365760"/>
            <a:ext cx="31800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Level</a:t>
            </a:r>
            <a:r>
              <a:rPr lang="en-IN" sz="4000" b="1" dirty="0"/>
              <a:t> 01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8A2CDB-7CA5-B8E9-70C7-76792965C97C}"/>
              </a:ext>
            </a:extLst>
          </p:cNvPr>
          <p:cNvSpPr txBox="1"/>
          <p:nvPr/>
        </p:nvSpPr>
        <p:spPr>
          <a:xfrm>
            <a:off x="750389" y="1659285"/>
            <a:ext cx="1152144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ask 01 : Top Cuisines</a:t>
            </a:r>
          </a:p>
          <a:p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+mj-lt"/>
              <a:buAutoNum type="romanU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Determine the top three most common cuisines in the dataset.</a:t>
            </a:r>
          </a:p>
          <a:p>
            <a:pPr marL="571500" indent="-571500">
              <a:buFont typeface="+mj-lt"/>
              <a:buAutoNum type="romanUcPeriod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+mj-lt"/>
              <a:buAutoNum type="romanU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 the percentage of restaurants that serve each of the top cuisines.</a:t>
            </a:r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4643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53B6BD-4281-7045-7D65-9E7FE5919FA2}"/>
              </a:ext>
            </a:extLst>
          </p:cNvPr>
          <p:cNvSpPr txBox="1"/>
          <p:nvPr/>
        </p:nvSpPr>
        <p:spPr>
          <a:xfrm>
            <a:off x="264160" y="574766"/>
            <a:ext cx="11023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+mj-lt"/>
              <a:buAutoNum type="romanUcPeriod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Determine the top three most common cuisines in the dataset 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DE8465-68B6-B86C-B8E3-D0F31AB78DE0}"/>
              </a:ext>
            </a:extLst>
          </p:cNvPr>
          <p:cNvSpPr txBox="1"/>
          <p:nvPr/>
        </p:nvSpPr>
        <p:spPr>
          <a:xfrm>
            <a:off x="264160" y="144839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Three Most Common Cuisines :</a:t>
            </a:r>
            <a:endParaRPr lang="en-IN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2482A5-4161-5A47-E6F2-2A6B7CEE45DF}"/>
              </a:ext>
            </a:extLst>
          </p:cNvPr>
          <p:cNvSpPr txBox="1"/>
          <p:nvPr/>
        </p:nvSpPr>
        <p:spPr>
          <a:xfrm>
            <a:off x="721360" y="2286000"/>
            <a:ext cx="1049528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After analyzing the </a:t>
            </a: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Cuisines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column in the dataset, the top three most common cuisines were identified based on their frequency of occurrence :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•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North Indian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 2,992 restaurants</a:t>
            </a:r>
            <a:b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•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Chinese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–  1,880 restaurants</a:t>
            </a:r>
            <a:b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•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 Food   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 1,314 restaurants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cuisines dominate the dataset, indicating a higher preference and availability across restaurants.</a:t>
            </a:r>
          </a:p>
          <a:p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3058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B911E6-15C2-04E5-12EF-3391594B355D}"/>
              </a:ext>
            </a:extLst>
          </p:cNvPr>
          <p:cNvSpPr txBox="1"/>
          <p:nvPr/>
        </p:nvSpPr>
        <p:spPr>
          <a:xfrm>
            <a:off x="325120" y="361255"/>
            <a:ext cx="6553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Bar Graph :</a:t>
            </a:r>
            <a:endParaRPr lang="en-IN" sz="3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F835FC5-03BE-330C-0945-143092C2BA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830" y="1079182"/>
            <a:ext cx="8004810" cy="5087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2671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52896C-C540-7F43-C491-1F74EC4093DA}"/>
              </a:ext>
            </a:extLst>
          </p:cNvPr>
          <p:cNvSpPr txBox="1"/>
          <p:nvPr/>
        </p:nvSpPr>
        <p:spPr>
          <a:xfrm>
            <a:off x="492760" y="463584"/>
            <a:ext cx="110236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+mj-lt"/>
              <a:buAutoNum type="romanUcPeriod" startAt="2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Calculate the percentage of restaurants that serve each of the top cuisines :</a:t>
            </a:r>
          </a:p>
          <a:p>
            <a:pPr marL="571500" indent="-571500">
              <a:buFont typeface="+mj-lt"/>
              <a:buAutoNum type="romanUcPeriod" startAt="2"/>
            </a:pPr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+mj-lt"/>
              <a:buAutoNum type="romanUcPeriod" startAt="2"/>
            </a:pPr>
            <a:endParaRPr lang="en-IN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5DC16A-012C-AB4C-1D9D-560FCFA36893}"/>
              </a:ext>
            </a:extLst>
          </p:cNvPr>
          <p:cNvSpPr txBox="1"/>
          <p:nvPr/>
        </p:nvSpPr>
        <p:spPr>
          <a:xfrm>
            <a:off x="406400" y="1895565"/>
            <a:ext cx="5598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Percentage of Restaurants Serving Top Cuisines :</a:t>
            </a:r>
            <a:endParaRPr lang="en-IN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11439C-F4F5-56AC-58C6-7149DC4D6861}"/>
              </a:ext>
            </a:extLst>
          </p:cNvPr>
          <p:cNvSpPr txBox="1"/>
          <p:nvPr/>
        </p:nvSpPr>
        <p:spPr>
          <a:xfrm>
            <a:off x="661851" y="2750906"/>
            <a:ext cx="1037336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dataset was analyzed to determine the percentage of restaurants serving the most popular cuisines :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2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North Indian                                        – 31.33%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Chinese                                                – 19.68%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Fast Food                                             – 13.76%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North Indian (secondary category) – 10.14%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Chinese (secondary category)          – 8.95%</a:t>
            </a:r>
          </a:p>
          <a:p>
            <a:pPr lvl="2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results show that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North Indian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cuisine has the highest overall presence, followed by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Chinese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 Food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indicating strong customer preference for these cuisines.</a:t>
            </a:r>
          </a:p>
        </p:txBody>
      </p:sp>
    </p:spTree>
    <p:extLst>
      <p:ext uri="{BB962C8B-B14F-4D97-AF65-F5344CB8AC3E}">
        <p14:creationId xmlns:p14="http://schemas.microsoft.com/office/powerpoint/2010/main" val="4079085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4F1120-4AAC-A24E-BF3F-4260752090BB}"/>
              </a:ext>
            </a:extLst>
          </p:cNvPr>
          <p:cNvSpPr txBox="1"/>
          <p:nvPr/>
        </p:nvSpPr>
        <p:spPr>
          <a:xfrm>
            <a:off x="325120" y="361255"/>
            <a:ext cx="6553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Bar Graph :</a:t>
            </a:r>
            <a:endParaRPr lang="en-IN" sz="3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893B2E7-0EEB-D137-0ED2-ED503BC4A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9314" y="1089425"/>
            <a:ext cx="7955280" cy="5262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4249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FB2482-C5C0-E58E-60B9-63E1B7468026}"/>
              </a:ext>
            </a:extLst>
          </p:cNvPr>
          <p:cNvSpPr txBox="1"/>
          <p:nvPr/>
        </p:nvSpPr>
        <p:spPr>
          <a:xfrm>
            <a:off x="4505960" y="398417"/>
            <a:ext cx="31800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Level 01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BDF45B-1FC5-408C-6467-252549DC4F91}"/>
              </a:ext>
            </a:extLst>
          </p:cNvPr>
          <p:cNvSpPr txBox="1"/>
          <p:nvPr/>
        </p:nvSpPr>
        <p:spPr>
          <a:xfrm>
            <a:off x="761274" y="1874728"/>
            <a:ext cx="1152144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ask 02 : City Analysis</a:t>
            </a:r>
          </a:p>
          <a:p>
            <a:endParaRPr lang="en-IN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+mj-lt"/>
              <a:buAutoNum type="romanU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the city with the highest number of restaurants in the dataset.</a:t>
            </a:r>
          </a:p>
          <a:p>
            <a:pPr marL="571500" indent="-571500">
              <a:buFont typeface="+mj-lt"/>
              <a:buAutoNum type="romanUcPeriod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+mj-lt"/>
              <a:buAutoNum type="romanU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 the average rating for restaurants in each city.</a:t>
            </a:r>
          </a:p>
          <a:p>
            <a:pPr marL="571500" indent="-571500">
              <a:buFont typeface="+mj-lt"/>
              <a:buAutoNum type="romanUcPeriod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+mj-lt"/>
              <a:buAutoNum type="romanU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Determine the city with the highest average rating.</a:t>
            </a:r>
          </a:p>
        </p:txBody>
      </p:sp>
    </p:spTree>
    <p:extLst>
      <p:ext uri="{BB962C8B-B14F-4D97-AF65-F5344CB8AC3E}">
        <p14:creationId xmlns:p14="http://schemas.microsoft.com/office/powerpoint/2010/main" val="2316113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613644-7C48-AEEF-5E0B-55DC4C472B7F}"/>
              </a:ext>
            </a:extLst>
          </p:cNvPr>
          <p:cNvSpPr txBox="1"/>
          <p:nvPr/>
        </p:nvSpPr>
        <p:spPr>
          <a:xfrm>
            <a:off x="388258" y="520337"/>
            <a:ext cx="11150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+mj-lt"/>
              <a:buAutoNum type="romanUcPeriod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the city with the highest number of restaurants in the dataset.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E5FEE4-F48F-F602-139C-F50243022199}"/>
              </a:ext>
            </a:extLst>
          </p:cNvPr>
          <p:cNvSpPr txBox="1"/>
          <p:nvPr/>
        </p:nvSpPr>
        <p:spPr>
          <a:xfrm>
            <a:off x="909320" y="1879061"/>
            <a:ext cx="103733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 Delhi emerges as the city with the highest number of restaurants (5,473), highlighting its dense and diverse food ecosystem.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6DCD5B9-FDB0-A642-A3CB-86FCABF29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5744" y="3114675"/>
            <a:ext cx="6422570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1522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42C1DA-AF78-3ED1-C075-723E95FFBAA8}"/>
              </a:ext>
            </a:extLst>
          </p:cNvPr>
          <p:cNvSpPr txBox="1"/>
          <p:nvPr/>
        </p:nvSpPr>
        <p:spPr>
          <a:xfrm>
            <a:off x="520700" y="509451"/>
            <a:ext cx="1115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+mj-lt"/>
              <a:buAutoNum type="romanUcPeriod" startAt="2"/>
            </a:pPr>
            <a:r>
              <a:rPr lang="en-US" sz="2800" b="1" dirty="0"/>
              <a:t>Calculate the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</a:t>
            </a:r>
            <a:r>
              <a:rPr lang="en-US" sz="2800" b="1" dirty="0"/>
              <a:t> rating for restaurants in each city 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3C02B9-653A-9554-B45D-8F5B01CBC97E}"/>
              </a:ext>
            </a:extLst>
          </p:cNvPr>
          <p:cNvSpPr txBox="1"/>
          <p:nvPr/>
        </p:nvSpPr>
        <p:spPr>
          <a:xfrm>
            <a:off x="670560" y="1578012"/>
            <a:ext cx="1152144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average rating for restaurants in each city is :</a:t>
            </a:r>
          </a:p>
          <a:p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57600" lvl="7" indent="-457200" latinLnBrk="1">
              <a:buFont typeface="+mj-lt"/>
              <a:buAutoNum type="arabicPeriod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Abu Dhabi           4.300000</a:t>
            </a:r>
          </a:p>
          <a:p>
            <a:pPr marL="3657600" lvl="7" indent="-457200" latinLnBrk="1">
              <a:buFont typeface="+mj-lt"/>
              <a:buAutoNum type="arabicPeriod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Agra                      3.965000</a:t>
            </a:r>
          </a:p>
          <a:p>
            <a:pPr marL="3657600" lvl="7" indent="-457200" latinLnBrk="1">
              <a:buFont typeface="+mj-lt"/>
              <a:buAutoNum type="arabicPeriod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Ahmedabad        4.161905</a:t>
            </a:r>
          </a:p>
          <a:p>
            <a:pPr marL="3657600" lvl="7" indent="-457200" latinLnBrk="1">
              <a:buFont typeface="+mj-lt"/>
              <a:buAutoNum type="arabicPeriod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Albany                  3.555000</a:t>
            </a:r>
          </a:p>
          <a:p>
            <a:pPr marL="3657600" lvl="7" indent="-457200" latinLnBrk="1">
              <a:buFont typeface="+mj-lt"/>
              <a:buAutoNum type="arabicPeriod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Allahabad            3.395000</a:t>
            </a:r>
          </a:p>
          <a:p>
            <a:pPr lvl="7" latinLnBrk="1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... …  </a:t>
            </a:r>
          </a:p>
          <a:p>
            <a:pPr marL="3657600" lvl="7" indent="-457200" latinLnBrk="1">
              <a:buFont typeface="+mj-lt"/>
              <a:buAutoNum type="arabicPeriod" startAt="137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Weirton                3.900000</a:t>
            </a:r>
          </a:p>
          <a:p>
            <a:pPr marL="3657600" lvl="7" indent="-457200" latinLnBrk="1">
              <a:buFont typeface="+mj-lt"/>
              <a:buAutoNum type="arabicPeriod" startAt="137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Wellington City   4.250000</a:t>
            </a:r>
          </a:p>
          <a:p>
            <a:pPr marL="3657600" lvl="7" indent="-457200" latinLnBrk="1">
              <a:buFont typeface="+mj-lt"/>
              <a:buAutoNum type="arabicPeriod" startAt="137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Winchester Bay   3.200000</a:t>
            </a:r>
          </a:p>
          <a:p>
            <a:pPr marL="3657600" lvl="7" indent="-457200" latinLnBrk="1">
              <a:buFont typeface="+mj-lt"/>
              <a:buAutoNum type="arabicPeriod" startAt="137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Yorkton                 3.300000</a:t>
            </a:r>
          </a:p>
          <a:p>
            <a:pPr marL="3657600" lvl="7" indent="-457200" latinLnBrk="1">
              <a:buFont typeface="+mj-lt"/>
              <a:buAutoNum type="arabicPeriod" startAt="137"/>
            </a:pP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istanbul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4.292857</a:t>
            </a:r>
          </a:p>
          <a:p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7953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C0A0BA-776D-FD9E-61C5-5652DDAA2D07}"/>
              </a:ext>
            </a:extLst>
          </p:cNvPr>
          <p:cNvSpPr txBox="1"/>
          <p:nvPr/>
        </p:nvSpPr>
        <p:spPr>
          <a:xfrm>
            <a:off x="520700" y="520337"/>
            <a:ext cx="1115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+mj-lt"/>
              <a:buAutoNum type="romanUcPeriod" startAt="3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Determine the city with the highest average rating 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F28318-BFF5-BB0D-7411-09B8C0D899DD}"/>
              </a:ext>
            </a:extLst>
          </p:cNvPr>
          <p:cNvSpPr txBox="1"/>
          <p:nvPr/>
        </p:nvSpPr>
        <p:spPr>
          <a:xfrm>
            <a:off x="909320" y="1748432"/>
            <a:ext cx="10373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latinLnBrk="1">
              <a:buFont typeface="Wingdings" panose="05000000000000000000" pitchFamily="2" charset="2"/>
              <a:buChar char="Ø"/>
            </a:pPr>
            <a:r>
              <a:rPr lang="en-US" sz="2400" dirty="0"/>
              <a:t>The city with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</a:t>
            </a:r>
            <a:r>
              <a:rPr lang="en-US" sz="2400" dirty="0"/>
              <a:t> average rating is "Inner City“ with a rating value of "4.9"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F4058F7-369E-02B3-FB38-43A6320419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6885" y="2601686"/>
            <a:ext cx="6602353" cy="4256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0538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353D91-EF14-8DE1-C546-B5C1BC23BD14}"/>
              </a:ext>
            </a:extLst>
          </p:cNvPr>
          <p:cNvSpPr txBox="1"/>
          <p:nvPr/>
        </p:nvSpPr>
        <p:spPr>
          <a:xfrm>
            <a:off x="4505960" y="398417"/>
            <a:ext cx="31800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Level 01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1BF1CB-531A-AD1F-2BDD-2B355EFFFE4C}"/>
              </a:ext>
            </a:extLst>
          </p:cNvPr>
          <p:cNvSpPr txBox="1"/>
          <p:nvPr/>
        </p:nvSpPr>
        <p:spPr>
          <a:xfrm>
            <a:off x="761274" y="1874728"/>
            <a:ext cx="1152144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ask 03 : Price Range Distribution :</a:t>
            </a:r>
          </a:p>
          <a:p>
            <a:endParaRPr lang="en-IN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+mj-lt"/>
              <a:buAutoNum type="romanU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histogram or bar chart to visualize the distribution of price ranges among the restaurants .</a:t>
            </a:r>
          </a:p>
          <a:p>
            <a:pPr marL="571500" indent="-571500">
              <a:buFont typeface="+mj-lt"/>
              <a:buAutoNum type="romanUcPeriod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+mj-lt"/>
              <a:buAutoNum type="romanU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 the percentage of restaurants in each price range category. </a:t>
            </a:r>
          </a:p>
        </p:txBody>
      </p:sp>
    </p:spTree>
    <p:extLst>
      <p:ext uri="{BB962C8B-B14F-4D97-AF65-F5344CB8AC3E}">
        <p14:creationId xmlns:p14="http://schemas.microsoft.com/office/powerpoint/2010/main" val="560828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DE5814-E905-CDB8-9732-3ED77110F1B4}"/>
              </a:ext>
            </a:extLst>
          </p:cNvPr>
          <p:cNvSpPr txBox="1"/>
          <p:nvPr/>
        </p:nvSpPr>
        <p:spPr>
          <a:xfrm>
            <a:off x="388258" y="520337"/>
            <a:ext cx="11150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+mj-lt"/>
              <a:buAutoNum type="romanUcPeriod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histogram or bar chart to visualize the distribution of price ranges among the restaurants 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40C7EB-0150-CEFD-E7FD-722FE1972D11}"/>
              </a:ext>
            </a:extLst>
          </p:cNvPr>
          <p:cNvSpPr txBox="1"/>
          <p:nvPr/>
        </p:nvSpPr>
        <p:spPr>
          <a:xfrm>
            <a:off x="761274" y="1874728"/>
            <a:ext cx="115214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below Histogram shows the various distribution of price ranges      among the restaurants .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A05E4D4-1BFC-106A-E801-71A3A31FE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8975" y="2862943"/>
            <a:ext cx="6696682" cy="3995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87587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5AB60D-7DAC-C66A-0D37-E0E461DBEC47}"/>
              </a:ext>
            </a:extLst>
          </p:cNvPr>
          <p:cNvSpPr txBox="1"/>
          <p:nvPr/>
        </p:nvSpPr>
        <p:spPr>
          <a:xfrm>
            <a:off x="388258" y="585651"/>
            <a:ext cx="1115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+mj-lt"/>
              <a:buAutoNum type="romanUcPeriod" startAt="2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 the percentage of restaurants in each price range category. 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FA0CF8-FA8E-C982-E3F6-3AEBDC2B42C5}"/>
              </a:ext>
            </a:extLst>
          </p:cNvPr>
          <p:cNvSpPr txBox="1"/>
          <p:nvPr/>
        </p:nvSpPr>
        <p:spPr>
          <a:xfrm>
            <a:off x="335280" y="2016242"/>
            <a:ext cx="5760720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percentage of restaurants in each price range category are 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885950" lvl="3" indent="-514350" latinLnBrk="1">
              <a:buFont typeface="Arial" panose="020B0604020202020204" pitchFamily="34" charset="0"/>
              <a:buChar char="•"/>
            </a:pPr>
            <a:r>
              <a:rPr lang="en-IN" sz="2200" dirty="0"/>
              <a:t>1.0  -  46.53%</a:t>
            </a:r>
          </a:p>
          <a:p>
            <a:pPr marL="1885950" lvl="3" indent="-514350" latinLnBrk="1">
              <a:buFont typeface="Arial" panose="020B0604020202020204" pitchFamily="34" charset="0"/>
              <a:buChar char="•"/>
            </a:pPr>
            <a:r>
              <a:rPr lang="en-IN" sz="2200" dirty="0"/>
              <a:t>2.0  -  32.59%</a:t>
            </a:r>
          </a:p>
          <a:p>
            <a:pPr marL="1885950" lvl="3" indent="-514350" latinLnBrk="1">
              <a:buFont typeface="Arial" panose="020B0604020202020204" pitchFamily="34" charset="0"/>
              <a:buChar char="•"/>
            </a:pPr>
            <a:r>
              <a:rPr lang="en-IN" sz="2200" dirty="0"/>
              <a:t>3.0  -  14.74%</a:t>
            </a:r>
          </a:p>
          <a:p>
            <a:pPr marL="1885950" lvl="3" indent="-514350" latinLnBrk="1">
              <a:buFont typeface="Arial" panose="020B0604020202020204" pitchFamily="34" charset="0"/>
              <a:buChar char="•"/>
            </a:pPr>
            <a:r>
              <a:rPr lang="en-IN" sz="2200" dirty="0"/>
              <a:t>4.0  -    6.14%</a:t>
            </a:r>
          </a:p>
          <a:p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8" latinLnBrk="1"/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9A62CB-56FC-D286-3487-CBB488567D13}"/>
              </a:ext>
            </a:extLst>
          </p:cNvPr>
          <p:cNvSpPr txBox="1"/>
          <p:nvPr/>
        </p:nvSpPr>
        <p:spPr>
          <a:xfrm>
            <a:off x="6096000" y="201624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IN" sz="28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Pie Chart :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9138E99-0E50-5D22-6418-04E0BEE05743}"/>
              </a:ext>
            </a:extLst>
          </p:cNvPr>
          <p:cNvCxnSpPr>
            <a:cxnSpLocks/>
          </p:cNvCxnSpPr>
          <p:nvPr/>
        </p:nvCxnSpPr>
        <p:spPr>
          <a:xfrm>
            <a:off x="5758543" y="2016242"/>
            <a:ext cx="0" cy="46784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054" name="Picture 6">
            <a:extLst>
              <a:ext uri="{FF2B5EF4-FFF2-40B4-BE49-F238E27FC236}">
                <a16:creationId xmlns:a16="http://schemas.microsoft.com/office/drawing/2014/main" id="{06B77301-5DEC-DE1F-B945-AD3F6B77CC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150" y="2414724"/>
            <a:ext cx="3848100" cy="385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36745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99AEAE-0282-3EE4-8834-CD7B3D02D68E}"/>
              </a:ext>
            </a:extLst>
          </p:cNvPr>
          <p:cNvSpPr txBox="1"/>
          <p:nvPr/>
        </p:nvSpPr>
        <p:spPr>
          <a:xfrm>
            <a:off x="4505960" y="398417"/>
            <a:ext cx="31800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Level 01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1C957F-6D97-2CC9-2AAA-62F607A519F8}"/>
              </a:ext>
            </a:extLst>
          </p:cNvPr>
          <p:cNvSpPr txBox="1"/>
          <p:nvPr/>
        </p:nvSpPr>
        <p:spPr>
          <a:xfrm>
            <a:off x="761274" y="1874728"/>
            <a:ext cx="1113681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ask 04 : Online Delivery :</a:t>
            </a:r>
          </a:p>
          <a:p>
            <a:endParaRPr lang="en-IN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+mj-lt"/>
              <a:buAutoNum type="romanUcPeriod"/>
            </a:pPr>
            <a:r>
              <a:rPr lang="en-US" sz="2800" dirty="0"/>
              <a:t>Determine the percentage of restaurants that offer online delivery.</a:t>
            </a:r>
          </a:p>
          <a:p>
            <a:pPr marL="571500" indent="-571500">
              <a:buFont typeface="+mj-lt"/>
              <a:buAutoNum type="romanUcPeriod"/>
            </a:pPr>
            <a:endParaRPr lang="en-US" sz="2800" dirty="0"/>
          </a:p>
          <a:p>
            <a:pPr marL="571500" indent="-571500">
              <a:buFont typeface="+mj-lt"/>
              <a:buAutoNum type="romanUcPeriod"/>
            </a:pPr>
            <a:r>
              <a:rPr lang="en-US" sz="2800" dirty="0"/>
              <a:t>Compare the average ratings of restaurants with and without online delivery .</a:t>
            </a:r>
          </a:p>
          <a:p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26556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846DBF-6D01-6E62-A754-70280CD472AD}"/>
              </a:ext>
            </a:extLst>
          </p:cNvPr>
          <p:cNvSpPr txBox="1"/>
          <p:nvPr/>
        </p:nvSpPr>
        <p:spPr>
          <a:xfrm>
            <a:off x="520700" y="574766"/>
            <a:ext cx="1115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+mj-lt"/>
              <a:buAutoNum type="romanUcPeriod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Determine the percentage of restaurants that offer online delivery 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2A2B07-62F2-EFA6-2DC4-453E5F3D6AD0}"/>
              </a:ext>
            </a:extLst>
          </p:cNvPr>
          <p:cNvSpPr txBox="1"/>
          <p:nvPr/>
        </p:nvSpPr>
        <p:spPr>
          <a:xfrm>
            <a:off x="957217" y="1765871"/>
            <a:ext cx="11521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latinLnBrk="1">
              <a:buFont typeface="Wingdings" panose="05000000000000000000" pitchFamily="2" charset="2"/>
              <a:buChar char="Ø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percentage of restaurant that offers online delivery is :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25.7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%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C8F3C5-BC2E-FCCA-A504-509D58868659}"/>
              </a:ext>
            </a:extLst>
          </p:cNvPr>
          <p:cNvSpPr txBox="1"/>
          <p:nvPr/>
        </p:nvSpPr>
        <p:spPr>
          <a:xfrm>
            <a:off x="957217" y="289542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IN" sz="28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Pie Chart :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6267329-249D-565A-FA45-B549D6694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7343" y="2706007"/>
            <a:ext cx="4151993" cy="4151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82222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EC5806-0173-5321-A02F-68C00406F60E}"/>
              </a:ext>
            </a:extLst>
          </p:cNvPr>
          <p:cNvSpPr txBox="1"/>
          <p:nvPr/>
        </p:nvSpPr>
        <p:spPr>
          <a:xfrm>
            <a:off x="520700" y="574766"/>
            <a:ext cx="11150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+mj-lt"/>
              <a:buAutoNum type="romanUcPeriod" startAt="2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Compare the average ratings of restaurants with and without online delivery :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C2FE4EA-8241-F010-0878-5AA534670878}"/>
              </a:ext>
            </a:extLst>
          </p:cNvPr>
          <p:cNvCxnSpPr>
            <a:cxnSpLocks/>
          </p:cNvCxnSpPr>
          <p:nvPr/>
        </p:nvCxnSpPr>
        <p:spPr>
          <a:xfrm>
            <a:off x="5758543" y="2016242"/>
            <a:ext cx="0" cy="46784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4AEBFD2-CB24-221C-891A-0FD966B08C56}"/>
              </a:ext>
            </a:extLst>
          </p:cNvPr>
          <p:cNvSpPr txBox="1"/>
          <p:nvPr/>
        </p:nvSpPr>
        <p:spPr>
          <a:xfrm>
            <a:off x="335280" y="2277852"/>
            <a:ext cx="523820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Restaurants with online delivery show a lower average rating “2.47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⭐”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Restaurants without online delivery have a higher average rating “3.25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⭐”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indicates that online delivery availability is associated with better customer ratings</a:t>
            </a:r>
          </a:p>
          <a:p>
            <a:pPr lvl="8" latinLnBrk="1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F8634080-76AE-05D7-7E01-482AEC9E1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0913" y="2374354"/>
            <a:ext cx="4210053" cy="4320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331150-A716-5D7D-C30D-00343EC21682}"/>
              </a:ext>
            </a:extLst>
          </p:cNvPr>
          <p:cNvSpPr txBox="1"/>
          <p:nvPr/>
        </p:nvSpPr>
        <p:spPr>
          <a:xfrm>
            <a:off x="5943603" y="175463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IN" sz="28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Bar Graph :</a:t>
            </a:r>
          </a:p>
        </p:txBody>
      </p:sp>
    </p:spTree>
    <p:extLst>
      <p:ext uri="{BB962C8B-B14F-4D97-AF65-F5344CB8AC3E}">
        <p14:creationId xmlns:p14="http://schemas.microsoft.com/office/powerpoint/2010/main" val="27026132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A8F400-126C-A462-82AE-A5061D7B0253}"/>
              </a:ext>
            </a:extLst>
          </p:cNvPr>
          <p:cNvSpPr txBox="1"/>
          <p:nvPr/>
        </p:nvSpPr>
        <p:spPr>
          <a:xfrm>
            <a:off x="4505960" y="398417"/>
            <a:ext cx="31800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Level 02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3C0E8B-4057-D149-5467-A1F5443A362B}"/>
              </a:ext>
            </a:extLst>
          </p:cNvPr>
          <p:cNvSpPr txBox="1"/>
          <p:nvPr/>
        </p:nvSpPr>
        <p:spPr>
          <a:xfrm>
            <a:off x="761274" y="1874728"/>
            <a:ext cx="1113681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ask 01 : Restaurant Ratings :</a:t>
            </a:r>
          </a:p>
          <a:p>
            <a:endParaRPr lang="en-IN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+mj-lt"/>
              <a:buAutoNum type="romanUcPeriod"/>
            </a:pPr>
            <a:r>
              <a:rPr lang="en-US" sz="2800" dirty="0"/>
              <a:t>Analyze the distribution of aggregate ratings and determine the most common rating range .</a:t>
            </a:r>
          </a:p>
          <a:p>
            <a:pPr marL="571500" indent="-571500">
              <a:buFont typeface="+mj-lt"/>
              <a:buAutoNum type="romanUcPeriod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+mj-lt"/>
              <a:buAutoNum type="romanUcPeriod"/>
            </a:pPr>
            <a:r>
              <a:rPr lang="en-US" sz="2800" dirty="0"/>
              <a:t>Calculate the average number of votes received by restaurants 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82940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A17861-3133-C861-7381-FD198EAC1C8D}"/>
              </a:ext>
            </a:extLst>
          </p:cNvPr>
          <p:cNvSpPr txBox="1"/>
          <p:nvPr/>
        </p:nvSpPr>
        <p:spPr>
          <a:xfrm>
            <a:off x="520700" y="574766"/>
            <a:ext cx="11150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+mj-lt"/>
              <a:buAutoNum type="romanUcPeriod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 the distribution of aggregate ratings and determine the most common rating range 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A6AD46-D4E5-6941-47DD-4299322928FF}"/>
              </a:ext>
            </a:extLst>
          </p:cNvPr>
          <p:cNvSpPr txBox="1"/>
          <p:nvPr/>
        </p:nvSpPr>
        <p:spPr>
          <a:xfrm>
            <a:off x="335284" y="2412531"/>
            <a:ext cx="542325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Based on the analysis of aggregate ratings, the most common rating observed in the dataset is “</a:t>
            </a:r>
            <a:r>
              <a:rPr lang="en-US" sz="2400" b="1" dirty="0"/>
              <a:t>0.0”</a:t>
            </a:r>
            <a:r>
              <a:rPr lang="en-US" sz="2400" dirty="0"/>
              <a:t>, with a total count of “</a:t>
            </a:r>
            <a:r>
              <a:rPr lang="en-US" sz="2400" b="1" dirty="0"/>
              <a:t>2,148” </a:t>
            </a:r>
            <a:r>
              <a:rPr lang="en-US" sz="2400" dirty="0"/>
              <a:t>entries</a:t>
            </a:r>
            <a:r>
              <a:rPr lang="en-US" sz="2400" b="1" dirty="0"/>
              <a:t> 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This indicates that a significant number of restaurants have not received any customer ratings.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F2449E-D37B-8781-03CB-F5FAA612FBED}"/>
              </a:ext>
            </a:extLst>
          </p:cNvPr>
          <p:cNvCxnSpPr>
            <a:cxnSpLocks/>
          </p:cNvCxnSpPr>
          <p:nvPr/>
        </p:nvCxnSpPr>
        <p:spPr>
          <a:xfrm>
            <a:off x="5758543" y="2016242"/>
            <a:ext cx="0" cy="46784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348B701-58ED-EC3E-DF8A-BECD7DFFF1ED}"/>
              </a:ext>
            </a:extLst>
          </p:cNvPr>
          <p:cNvSpPr txBox="1"/>
          <p:nvPr/>
        </p:nvSpPr>
        <p:spPr>
          <a:xfrm>
            <a:off x="5921829" y="175463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IN" sz="28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Histogram :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4C48BF6-BBB4-6B2A-D6B7-9F0FC3D5A8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548" y="2412531"/>
            <a:ext cx="4486275" cy="4335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21655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42ED6E-48DA-E491-7601-A2706A4EE134}"/>
              </a:ext>
            </a:extLst>
          </p:cNvPr>
          <p:cNvSpPr txBox="1"/>
          <p:nvPr/>
        </p:nvSpPr>
        <p:spPr>
          <a:xfrm>
            <a:off x="520700" y="574766"/>
            <a:ext cx="1115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+mj-lt"/>
              <a:buAutoNum type="romanUcPeriod" startAt="2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 the average number of votes received by restaurants 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D140FA-96B5-B36B-9011-FDC601EBC856}"/>
              </a:ext>
            </a:extLst>
          </p:cNvPr>
          <p:cNvSpPr txBox="1"/>
          <p:nvPr/>
        </p:nvSpPr>
        <p:spPr>
          <a:xfrm>
            <a:off x="946331" y="2114213"/>
            <a:ext cx="1015709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latinLnBrk="1">
              <a:buFont typeface="Wingdings" panose="05000000000000000000" pitchFamily="2" charset="2"/>
              <a:buChar char="Ø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analysis reveals that restaurants receive an average of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156.91 votes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</a:p>
          <a:p>
            <a:pPr latinLnBrk="1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indicating a moderate level of customer engagement across the dataset.</a:t>
            </a:r>
          </a:p>
          <a:p>
            <a:pPr marL="285750" indent="-285750" latinLnBrk="1">
              <a:buFont typeface="Wingdings" panose="05000000000000000000" pitchFamily="2" charset="2"/>
              <a:buChar char="Ø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latinLnBrk="1">
              <a:buFont typeface="Wingdings" panose="05000000000000000000" pitchFamily="2" charset="2"/>
              <a:buChar char="Ø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latinLnBrk="1">
              <a:buFont typeface="Wingdings" panose="05000000000000000000" pitchFamily="2" charset="2"/>
              <a:buChar char="Ø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participation is present across the dataset, though it is not evenly distributed among all restaurants.</a:t>
            </a:r>
          </a:p>
          <a:p>
            <a:pPr marL="285750" indent="-285750" latinLnBrk="1">
              <a:buFont typeface="Wingdings" panose="05000000000000000000" pitchFamily="2" charset="2"/>
              <a:buChar char="Ø"/>
            </a:pP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latinLnBrk="1">
              <a:buFont typeface="Wingdings" panose="05000000000000000000" pitchFamily="2" charset="2"/>
              <a:buChar char="Ø"/>
            </a:pP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29565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F0262B-012E-EC5C-0709-CE8F9F509155}"/>
              </a:ext>
            </a:extLst>
          </p:cNvPr>
          <p:cNvSpPr txBox="1"/>
          <p:nvPr/>
        </p:nvSpPr>
        <p:spPr>
          <a:xfrm>
            <a:off x="4505960" y="398417"/>
            <a:ext cx="31800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Level 02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A50D1D-873E-2F3D-8491-AF52F3BEFA01}"/>
              </a:ext>
            </a:extLst>
          </p:cNvPr>
          <p:cNvSpPr txBox="1"/>
          <p:nvPr/>
        </p:nvSpPr>
        <p:spPr>
          <a:xfrm>
            <a:off x="761274" y="1874728"/>
            <a:ext cx="1113681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ask 02 : Cuisine Combination :</a:t>
            </a:r>
          </a:p>
          <a:p>
            <a:endParaRPr lang="en-IN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+mj-lt"/>
              <a:buAutoNum type="romanU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the most common combinations of cuisines in the dataset.</a:t>
            </a:r>
          </a:p>
          <a:p>
            <a:pPr marL="571500" indent="-571500">
              <a:buFont typeface="+mj-lt"/>
              <a:buAutoNum type="romanUcPeriod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+mj-lt"/>
              <a:buAutoNum type="romanU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Determine if certain cuisine combinations tend to have higher ratings. </a:t>
            </a:r>
          </a:p>
        </p:txBody>
      </p:sp>
    </p:spTree>
    <p:extLst>
      <p:ext uri="{BB962C8B-B14F-4D97-AF65-F5344CB8AC3E}">
        <p14:creationId xmlns:p14="http://schemas.microsoft.com/office/powerpoint/2010/main" val="30559628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08DE87-F5FA-0F5F-6685-1660965DD995}"/>
              </a:ext>
            </a:extLst>
          </p:cNvPr>
          <p:cNvSpPr txBox="1"/>
          <p:nvPr/>
        </p:nvSpPr>
        <p:spPr>
          <a:xfrm>
            <a:off x="520700" y="574766"/>
            <a:ext cx="1115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+mj-lt"/>
              <a:buAutoNum type="romanUcPeriod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the most common combinations of cuisines in the dataset :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0C55DD6-83AB-F62C-1568-2131EC18B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4961" y="2396791"/>
            <a:ext cx="5536339" cy="4366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C1652CB-EC31-FCD8-66B3-A515A51F7708}"/>
              </a:ext>
            </a:extLst>
          </p:cNvPr>
          <p:cNvCxnSpPr>
            <a:cxnSpLocks/>
          </p:cNvCxnSpPr>
          <p:nvPr/>
        </p:nvCxnSpPr>
        <p:spPr>
          <a:xfrm>
            <a:off x="5867399" y="2016242"/>
            <a:ext cx="0" cy="46784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C7636A1-DB1B-1354-BF77-5DC736AB0E45}"/>
              </a:ext>
            </a:extLst>
          </p:cNvPr>
          <p:cNvSpPr txBox="1"/>
          <p:nvPr/>
        </p:nvSpPr>
        <p:spPr>
          <a:xfrm>
            <a:off x="100381" y="1831186"/>
            <a:ext cx="568766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most common combinations of cuisines in the dataset are :</a:t>
            </a:r>
          </a:p>
          <a:p>
            <a:pPr latinLnBrk="1"/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atinLnBrk="1"/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314450" lvl="2" indent="-400050" latinLnBrk="1">
              <a:buFont typeface="+mj-lt"/>
              <a:buAutoNum type="romanL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North Indian                   - 936</a:t>
            </a:r>
          </a:p>
          <a:p>
            <a:pPr marL="1314450" lvl="2" indent="-400050" latinLnBrk="1">
              <a:buFont typeface="+mj-lt"/>
              <a:buAutoNum type="romanL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North Indian, Chinese   - 511</a:t>
            </a:r>
          </a:p>
          <a:p>
            <a:pPr marL="1314450" lvl="2" indent="-400050" latinLnBrk="1">
              <a:buFont typeface="+mj-lt"/>
              <a:buAutoNum type="romanL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Chinese                            - 354</a:t>
            </a:r>
          </a:p>
          <a:p>
            <a:pPr marL="1314450" lvl="2" indent="-400050" latinLnBrk="1">
              <a:buFont typeface="+mj-lt"/>
              <a:buAutoNum type="romanL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 Food                         - 354</a:t>
            </a:r>
          </a:p>
          <a:p>
            <a:pPr marL="1314450" lvl="2" indent="-400050" latinLnBrk="1">
              <a:buFont typeface="+mj-lt"/>
              <a:buAutoNum type="romanL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North Indian, Mughlai   -334</a:t>
            </a:r>
          </a:p>
          <a:p>
            <a:pPr latinLnBrk="1"/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8F2D49-C5F5-0D46-9E4B-B28758527BC1}"/>
              </a:ext>
            </a:extLst>
          </p:cNvPr>
          <p:cNvSpPr txBox="1"/>
          <p:nvPr/>
        </p:nvSpPr>
        <p:spPr>
          <a:xfrm>
            <a:off x="5921829" y="175463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IN" sz="28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Bar Chart :</a:t>
            </a:r>
          </a:p>
        </p:txBody>
      </p:sp>
    </p:spTree>
    <p:extLst>
      <p:ext uri="{BB962C8B-B14F-4D97-AF65-F5344CB8AC3E}">
        <p14:creationId xmlns:p14="http://schemas.microsoft.com/office/powerpoint/2010/main" val="8801757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503541-7F89-D080-7430-78DD1CD0CDBF}"/>
              </a:ext>
            </a:extLst>
          </p:cNvPr>
          <p:cNvSpPr txBox="1"/>
          <p:nvPr/>
        </p:nvSpPr>
        <p:spPr>
          <a:xfrm>
            <a:off x="520699" y="574766"/>
            <a:ext cx="11322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+mj-lt"/>
              <a:buAutoNum type="romanUcPeriod" startAt="2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Determine if certain cuisine combinations tend to have higher ratings.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6282B8-A0F3-7CCA-9B64-5375EEBDE2FE}"/>
              </a:ext>
            </a:extLst>
          </p:cNvPr>
          <p:cNvSpPr txBox="1"/>
          <p:nvPr/>
        </p:nvSpPr>
        <p:spPr>
          <a:xfrm>
            <a:off x="520698" y="1765870"/>
            <a:ext cx="10375901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latinLnBrk="1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certain cuisine combinations tend to have higher ratings are :</a:t>
            </a:r>
          </a:p>
          <a:p>
            <a:pPr latinLnBrk="1"/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686050" lvl="5" indent="-400050" latinLnBrk="1">
              <a:buFont typeface="+mj-lt"/>
              <a:buAutoNum type="romanL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 Food                        -  3.29</a:t>
            </a:r>
          </a:p>
          <a:p>
            <a:pPr marL="2686050" lvl="5" indent="-400050" latinLnBrk="1">
              <a:buFont typeface="+mj-lt"/>
              <a:buAutoNum type="romanL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North Indian, Mughlai  -  3.28</a:t>
            </a:r>
          </a:p>
          <a:p>
            <a:pPr marL="2686050" lvl="5" indent="-400050" latinLnBrk="1">
              <a:buFont typeface="+mj-lt"/>
              <a:buAutoNum type="romanL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Chinese                            -  3.23</a:t>
            </a:r>
          </a:p>
          <a:p>
            <a:pPr marL="2686050" lvl="5" indent="-400050" latinLnBrk="1">
              <a:buFont typeface="+mj-lt"/>
              <a:buAutoNum type="romanL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North Indian                   -  3.18</a:t>
            </a:r>
          </a:p>
          <a:p>
            <a:pPr marL="2686050" lvl="5" indent="-400050" latinLnBrk="1">
              <a:buFont typeface="+mj-lt"/>
              <a:buAutoNum type="romanL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North Indian, Chinese   -  3.12</a:t>
            </a:r>
          </a:p>
          <a:p>
            <a:pPr marL="2686050" lvl="5" indent="-400050" latinLnBrk="1">
              <a:buFont typeface="+mj-lt"/>
              <a:buAutoNum type="romanLcPeriod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latinLnBrk="1">
              <a:buFont typeface="Wingdings" panose="05000000000000000000" pitchFamily="2" charset="2"/>
              <a:buChar char="Ø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indicates that popular cuisine pairings not only attract more restaurants but also achieve better customer satisfaction.</a:t>
            </a:r>
          </a:p>
          <a:p>
            <a:pPr marL="285750" indent="-285750" latinLnBrk="1">
              <a:buFont typeface="Wingdings" panose="05000000000000000000" pitchFamily="2" charset="2"/>
              <a:buChar char="Ø"/>
            </a:pP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04964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3C0402-4FBF-2761-DFC2-CCD2E69BC1B2}"/>
              </a:ext>
            </a:extLst>
          </p:cNvPr>
          <p:cNvSpPr txBox="1"/>
          <p:nvPr/>
        </p:nvSpPr>
        <p:spPr>
          <a:xfrm>
            <a:off x="4505960" y="398417"/>
            <a:ext cx="31800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Level 02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A48097-9E21-403F-7871-EE6743E047AE}"/>
              </a:ext>
            </a:extLst>
          </p:cNvPr>
          <p:cNvSpPr txBox="1"/>
          <p:nvPr/>
        </p:nvSpPr>
        <p:spPr>
          <a:xfrm>
            <a:off x="761274" y="1874728"/>
            <a:ext cx="1113681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ask 03 : Geographic Analysis :</a:t>
            </a:r>
          </a:p>
          <a:p>
            <a:endParaRPr lang="en-IN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+mj-lt"/>
              <a:buAutoNum type="romanU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Plot the locations of restaurants on a map using longitude and latitude coordinates.</a:t>
            </a:r>
          </a:p>
          <a:p>
            <a:pPr marL="571500" indent="-571500">
              <a:buFont typeface="+mj-lt"/>
              <a:buAutoNum type="romanUcPeriod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+mj-lt"/>
              <a:buAutoNum type="romanU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any patterns or clusters of restaurants in specific areas.</a:t>
            </a:r>
          </a:p>
        </p:txBody>
      </p:sp>
    </p:spTree>
    <p:extLst>
      <p:ext uri="{BB962C8B-B14F-4D97-AF65-F5344CB8AC3E}">
        <p14:creationId xmlns:p14="http://schemas.microsoft.com/office/powerpoint/2010/main" val="35597298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137171-4FFD-BA8A-C088-F961807BB605}"/>
              </a:ext>
            </a:extLst>
          </p:cNvPr>
          <p:cNvSpPr txBox="1"/>
          <p:nvPr/>
        </p:nvSpPr>
        <p:spPr>
          <a:xfrm>
            <a:off x="520699" y="574766"/>
            <a:ext cx="113229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+mj-lt"/>
              <a:buAutoNum type="romanUcPeriod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Plot the locations of restaurants on a map using longitude and latitude coordinates :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5E173A-C064-9F12-5255-5146C3E89A6C}"/>
              </a:ext>
            </a:extLst>
          </p:cNvPr>
          <p:cNvSpPr txBox="1"/>
          <p:nvPr/>
        </p:nvSpPr>
        <p:spPr>
          <a:xfrm>
            <a:off x="586920" y="1907385"/>
            <a:ext cx="1101815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latinLnBrk="1">
              <a:buFont typeface="Wingdings" panose="05000000000000000000" pitchFamily="2" charset="2"/>
              <a:buChar char="Ø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location of restaurants have been marked on a map using the given Longitude    and Latitude Coordinates .</a:t>
            </a:r>
          </a:p>
          <a:p>
            <a:pPr marL="285750" indent="-285750" latinLnBrk="1">
              <a:buFont typeface="Wingdings" panose="05000000000000000000" pitchFamily="2" charset="2"/>
              <a:buChar char="Ø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A8D7B031-BFC3-994B-AD19-983F1BBDF1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6128" y="3107714"/>
            <a:ext cx="7413170" cy="3597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60093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6F0EE6-8B8F-59A6-89C3-683409888063}"/>
              </a:ext>
            </a:extLst>
          </p:cNvPr>
          <p:cNvSpPr txBox="1"/>
          <p:nvPr/>
        </p:nvSpPr>
        <p:spPr>
          <a:xfrm>
            <a:off x="520699" y="574766"/>
            <a:ext cx="11322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+mj-lt"/>
              <a:buAutoNum type="romanUcPeriod" startAt="2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any patterns or clusters of restaurants in specific areas 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C9EE13-8B4B-2E7C-CD08-078CFC4EEA30}"/>
              </a:ext>
            </a:extLst>
          </p:cNvPr>
          <p:cNvSpPr txBox="1"/>
          <p:nvPr/>
        </p:nvSpPr>
        <p:spPr>
          <a:xfrm>
            <a:off x="2960187" y="3167390"/>
            <a:ext cx="111368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 to Diagram in </a:t>
            </a:r>
            <a:r>
              <a:rPr lang="en-IN" sz="2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Jupyter</a:t>
            </a:r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Notebook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7702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1AE114-606C-5362-567B-5AF1167BD765}"/>
              </a:ext>
            </a:extLst>
          </p:cNvPr>
          <p:cNvSpPr txBox="1"/>
          <p:nvPr/>
        </p:nvSpPr>
        <p:spPr>
          <a:xfrm>
            <a:off x="4505960" y="398417"/>
            <a:ext cx="31800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Level 02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6693AE-B434-B568-AE99-14C5622364FA}"/>
              </a:ext>
            </a:extLst>
          </p:cNvPr>
          <p:cNvSpPr txBox="1"/>
          <p:nvPr/>
        </p:nvSpPr>
        <p:spPr>
          <a:xfrm>
            <a:off x="761274" y="1874728"/>
            <a:ext cx="1113681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ask 04 : Restaurant Chains :</a:t>
            </a:r>
          </a:p>
          <a:p>
            <a:endParaRPr lang="en-IN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+mj-lt"/>
              <a:buAutoNum type="romanU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if there are any restaurant chains present in the dataset .</a:t>
            </a:r>
          </a:p>
          <a:p>
            <a:pPr marL="571500" indent="-571500">
              <a:buFont typeface="+mj-lt"/>
              <a:buAutoNum type="romanUcPeriod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+mj-lt"/>
              <a:buAutoNum type="romanU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 the ratings and popularity of different restaurant chains .</a:t>
            </a:r>
          </a:p>
        </p:txBody>
      </p:sp>
    </p:spTree>
    <p:extLst>
      <p:ext uri="{BB962C8B-B14F-4D97-AF65-F5344CB8AC3E}">
        <p14:creationId xmlns:p14="http://schemas.microsoft.com/office/powerpoint/2010/main" val="33869657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EB1D6A-A9B0-20F7-2FF5-8417D4CF8E3B}"/>
              </a:ext>
            </a:extLst>
          </p:cNvPr>
          <p:cNvSpPr txBox="1"/>
          <p:nvPr/>
        </p:nvSpPr>
        <p:spPr>
          <a:xfrm>
            <a:off x="520699" y="574766"/>
            <a:ext cx="11322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+mj-lt"/>
              <a:buAutoNum type="romanUcPeriod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if there are any restaurant chains present in the dataset .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3903188-AD70-5872-1778-3F2FBBD4D97F}"/>
              </a:ext>
            </a:extLst>
          </p:cNvPr>
          <p:cNvCxnSpPr>
            <a:cxnSpLocks/>
          </p:cNvCxnSpPr>
          <p:nvPr/>
        </p:nvCxnSpPr>
        <p:spPr>
          <a:xfrm>
            <a:off x="5758543" y="1326448"/>
            <a:ext cx="0" cy="536826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BE8CFE1-227A-45A2-5DA7-E87DBE89ADD2}"/>
              </a:ext>
            </a:extLst>
          </p:cNvPr>
          <p:cNvSpPr txBox="1"/>
          <p:nvPr/>
        </p:nvSpPr>
        <p:spPr>
          <a:xfrm>
            <a:off x="336371" y="1639645"/>
            <a:ext cx="5419997" cy="5724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latinLnBrk="1">
              <a:buFont typeface="Wingdings" panose="05000000000000000000" pitchFamily="2" charset="2"/>
              <a:buChar char="Ø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 are totally 734 Restaurant Chains present in the dataset .</a:t>
            </a:r>
          </a:p>
          <a:p>
            <a:pPr marL="342900" indent="-342900" latinLnBrk="1">
              <a:buFont typeface="Wingdings" panose="05000000000000000000" pitchFamily="2" charset="2"/>
              <a:buChar char="Ø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latinLnBrk="1">
              <a:buFont typeface="Wingdings" panose="05000000000000000000" pitchFamily="2" charset="2"/>
              <a:buChar char="Ø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Restaurant Chain includes :</a:t>
            </a:r>
          </a:p>
          <a:p>
            <a:pPr latinLnBrk="1"/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57300" lvl="2" indent="-342900" latinLnBrk="1">
              <a:buFont typeface="+mj-lt"/>
              <a:buAutoNum type="arabicPeriod"/>
            </a:pPr>
            <a:r>
              <a:rPr lang="en-IN" dirty="0"/>
              <a:t>Cafe Coffee Day         </a:t>
            </a:r>
            <a:r>
              <a:rPr lang="en-IN" b="1" dirty="0"/>
              <a:t>-</a:t>
            </a:r>
            <a:r>
              <a:rPr lang="en-IN" dirty="0"/>
              <a:t> 83</a:t>
            </a:r>
          </a:p>
          <a:p>
            <a:pPr marL="1257300" lvl="2" indent="-342900" latinLnBrk="1">
              <a:buFont typeface="+mj-lt"/>
              <a:buAutoNum type="arabicPeriod"/>
            </a:pPr>
            <a:r>
              <a:rPr lang="en-IN" dirty="0"/>
              <a:t>Domino's Pizza          </a:t>
            </a:r>
            <a:r>
              <a:rPr lang="en-IN" b="1" dirty="0"/>
              <a:t>- </a:t>
            </a:r>
            <a:r>
              <a:rPr lang="en-IN" dirty="0"/>
              <a:t>79</a:t>
            </a:r>
          </a:p>
          <a:p>
            <a:pPr marL="1257300" lvl="2" indent="-342900" latinLnBrk="1">
              <a:buFont typeface="+mj-lt"/>
              <a:buAutoNum type="arabicPeriod"/>
            </a:pPr>
            <a:r>
              <a:rPr lang="en-IN" dirty="0"/>
              <a:t>Subway                       </a:t>
            </a:r>
            <a:r>
              <a:rPr lang="en-IN" b="1" dirty="0"/>
              <a:t>- </a:t>
            </a:r>
            <a:r>
              <a:rPr lang="en-IN" dirty="0"/>
              <a:t>63</a:t>
            </a:r>
          </a:p>
          <a:p>
            <a:pPr marL="1257300" lvl="2" indent="-342900" latinLnBrk="1">
              <a:buFont typeface="+mj-lt"/>
              <a:buAutoNum type="arabicPeriod"/>
            </a:pPr>
            <a:r>
              <a:rPr lang="en-IN" dirty="0"/>
              <a:t>Green Chick Chop      </a:t>
            </a:r>
            <a:r>
              <a:rPr lang="en-IN" b="1" dirty="0"/>
              <a:t>-</a:t>
            </a:r>
            <a:r>
              <a:rPr lang="en-IN" dirty="0"/>
              <a:t> 51</a:t>
            </a:r>
          </a:p>
          <a:p>
            <a:pPr marL="1257300" lvl="2" indent="-342900" latinLnBrk="1">
              <a:buFont typeface="+mj-lt"/>
              <a:buAutoNum type="arabicPeriod"/>
            </a:pPr>
            <a:r>
              <a:rPr lang="en-IN" dirty="0"/>
              <a:t>McDonald's                </a:t>
            </a:r>
            <a:r>
              <a:rPr lang="en-IN" b="1" dirty="0"/>
              <a:t>-</a:t>
            </a:r>
            <a:r>
              <a:rPr lang="en-IN" dirty="0"/>
              <a:t> 48</a:t>
            </a:r>
          </a:p>
          <a:p>
            <a:pPr lvl="2" latinLnBrk="1"/>
            <a:r>
              <a:rPr lang="en-IN" dirty="0"/>
              <a:t>                     ……..</a:t>
            </a:r>
          </a:p>
          <a:p>
            <a:pPr marL="1257300" lvl="2" indent="-342900" latinLnBrk="1">
              <a:buFont typeface="+mj-lt"/>
              <a:buAutoNum type="arabicPeriod" startAt="730"/>
            </a:pPr>
            <a:r>
              <a:rPr lang="en-IN" dirty="0"/>
              <a:t>San Carlo                    </a:t>
            </a:r>
            <a:r>
              <a:rPr lang="en-IN" b="1" dirty="0"/>
              <a:t>- </a:t>
            </a:r>
            <a:r>
              <a:rPr lang="en-IN" dirty="0"/>
              <a:t>2</a:t>
            </a:r>
          </a:p>
          <a:p>
            <a:pPr marL="1257300" lvl="2" indent="-342900" latinLnBrk="1">
              <a:buFont typeface="+mj-lt"/>
              <a:buAutoNum type="arabicPeriod" startAt="730"/>
            </a:pPr>
            <a:r>
              <a:rPr lang="en-IN" dirty="0"/>
              <a:t>Gymkhana                  </a:t>
            </a:r>
            <a:r>
              <a:rPr lang="en-IN" b="1" dirty="0"/>
              <a:t>- </a:t>
            </a:r>
            <a:r>
              <a:rPr lang="en-IN" dirty="0"/>
              <a:t> 2</a:t>
            </a:r>
          </a:p>
          <a:p>
            <a:pPr marL="1257300" lvl="2" indent="-342900" latinLnBrk="1">
              <a:buFont typeface="+mj-lt"/>
              <a:buAutoNum type="arabicPeriod" startAt="730"/>
            </a:pPr>
            <a:r>
              <a:rPr lang="en-IN" dirty="0" err="1"/>
              <a:t>Dishoom</a:t>
            </a:r>
            <a:r>
              <a:rPr lang="en-IN" dirty="0"/>
              <a:t>                    </a:t>
            </a:r>
            <a:r>
              <a:rPr lang="en-IN" b="1" dirty="0"/>
              <a:t> - </a:t>
            </a:r>
            <a:r>
              <a:rPr lang="en-IN" dirty="0"/>
              <a:t>2</a:t>
            </a:r>
          </a:p>
          <a:p>
            <a:pPr marL="1257300" lvl="2" indent="-342900" latinLnBrk="1">
              <a:buFont typeface="+mj-lt"/>
              <a:buAutoNum type="arabicPeriod" startAt="730"/>
            </a:pPr>
            <a:r>
              <a:rPr lang="en-IN" dirty="0" err="1"/>
              <a:t>Timboo</a:t>
            </a:r>
            <a:r>
              <a:rPr lang="en-IN" dirty="0"/>
              <a:t> Cafe              </a:t>
            </a:r>
            <a:r>
              <a:rPr lang="en-IN" b="1" dirty="0"/>
              <a:t> - </a:t>
            </a:r>
            <a:r>
              <a:rPr lang="en-IN" dirty="0"/>
              <a:t>2</a:t>
            </a:r>
          </a:p>
          <a:p>
            <a:pPr marL="1257300" lvl="2" indent="-342900" latinLnBrk="1">
              <a:buFont typeface="+mj-lt"/>
              <a:buAutoNum type="arabicPeriod" startAt="730"/>
            </a:pPr>
            <a:r>
              <a:rPr lang="en-IN" dirty="0"/>
              <a:t>De </a:t>
            </a:r>
            <a:r>
              <a:rPr lang="en-IN" dirty="0" err="1"/>
              <a:t>Verolu</a:t>
            </a:r>
            <a:r>
              <a:rPr lang="en-IN" dirty="0"/>
              <a:t>                   </a:t>
            </a:r>
            <a:r>
              <a:rPr lang="en-IN" b="1" dirty="0"/>
              <a:t> - </a:t>
            </a:r>
            <a:r>
              <a:rPr lang="en-IN" dirty="0"/>
              <a:t>2</a:t>
            </a:r>
          </a:p>
          <a:p>
            <a:pPr marL="457200" indent="-457200" latinLnBrk="1">
              <a:buFont typeface="+mj-lt"/>
              <a:buAutoNum type="arabicPeriod" startAt="730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2361E519-9CFE-3680-3E3E-989D594BC7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3458" y="1955021"/>
            <a:ext cx="5214256" cy="4800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06759F-0453-6E92-C340-D1BCE99E9889}"/>
              </a:ext>
            </a:extLst>
          </p:cNvPr>
          <p:cNvSpPr txBox="1"/>
          <p:nvPr/>
        </p:nvSpPr>
        <p:spPr>
          <a:xfrm>
            <a:off x="5867398" y="1326448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IN" sz="20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Bar Chart :</a:t>
            </a:r>
          </a:p>
        </p:txBody>
      </p:sp>
    </p:spTree>
    <p:extLst>
      <p:ext uri="{BB962C8B-B14F-4D97-AF65-F5344CB8AC3E}">
        <p14:creationId xmlns:p14="http://schemas.microsoft.com/office/powerpoint/2010/main" val="42009428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A24D40-A7D5-1FBB-48E7-59D512DA0ACE}"/>
              </a:ext>
            </a:extLst>
          </p:cNvPr>
          <p:cNvSpPr txBox="1"/>
          <p:nvPr/>
        </p:nvSpPr>
        <p:spPr>
          <a:xfrm>
            <a:off x="520699" y="574766"/>
            <a:ext cx="11322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+mj-lt"/>
              <a:buAutoNum type="romanUcPeriod" startAt="2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 the ratings and popularity of different restaurant chains .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4419CA2-117C-F07F-0DE0-4969BC51BED3}"/>
              </a:ext>
            </a:extLst>
          </p:cNvPr>
          <p:cNvCxnSpPr>
            <a:cxnSpLocks/>
          </p:cNvCxnSpPr>
          <p:nvPr/>
        </p:nvCxnSpPr>
        <p:spPr>
          <a:xfrm>
            <a:off x="5758543" y="1326448"/>
            <a:ext cx="0" cy="536826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61F4E42-DF05-9B68-74EC-44C9118833E9}"/>
              </a:ext>
            </a:extLst>
          </p:cNvPr>
          <p:cNvSpPr txBox="1"/>
          <p:nvPr/>
        </p:nvSpPr>
        <p:spPr>
          <a:xfrm>
            <a:off x="76202" y="1261560"/>
            <a:ext cx="5769427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latinLnBrk="1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ratings of different chain restaurants :</a:t>
            </a:r>
          </a:p>
          <a:p>
            <a:pPr marL="285750" indent="-285750" latinLnBrk="1">
              <a:buFont typeface="Wingdings" panose="05000000000000000000" pitchFamily="2" charset="2"/>
              <a:buChar char="Ø"/>
            </a:pP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latinLnBrk="1">
              <a:buFont typeface="Wingdings" panose="05000000000000000000" pitchFamily="2" charset="2"/>
              <a:buChar char="Ø"/>
            </a:pP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 latinLnBrk="1"/>
            <a:r>
              <a:rPr lang="en-IN" dirty="0"/>
              <a:t>    </a:t>
            </a:r>
            <a:r>
              <a:rPr lang="en-IN" b="1" dirty="0"/>
              <a:t>Restaurant Name                            Average Rating</a:t>
            </a:r>
          </a:p>
          <a:p>
            <a:pPr lvl="1" latinLnBrk="1"/>
            <a:endParaRPr lang="en-IN" b="1" dirty="0"/>
          </a:p>
          <a:p>
            <a:pPr marL="800100" lvl="1" indent="-342900" latinLnBrk="1">
              <a:buFont typeface="+mj-lt"/>
              <a:buAutoNum type="arabicPeriod"/>
            </a:pPr>
            <a:r>
              <a:rPr lang="en-IN" dirty="0"/>
              <a:t>Solita                                                      4.9</a:t>
            </a:r>
          </a:p>
          <a:p>
            <a:pPr marL="800100" lvl="1" indent="-342900" latinLnBrk="1">
              <a:buFont typeface="+mj-lt"/>
              <a:buAutoNum type="arabicPeriod"/>
            </a:pPr>
            <a:r>
              <a:rPr lang="en-IN" dirty="0"/>
              <a:t>Spiral - Sofitel Philippine</a:t>
            </a:r>
          </a:p>
          <a:p>
            <a:pPr lvl="1" latinLnBrk="1"/>
            <a:r>
              <a:rPr lang="en-IN" dirty="0"/>
              <a:t>       Plaza Manila                                         4.9</a:t>
            </a:r>
          </a:p>
          <a:p>
            <a:pPr marL="800100" lvl="1" indent="-342900" latinLnBrk="1">
              <a:buFont typeface="+mj-lt"/>
              <a:buAutoNum type="arabicPeriod" startAt="3"/>
            </a:pPr>
            <a:r>
              <a:rPr lang="en-IN" dirty="0"/>
              <a:t>Flat Iron                                                  4.9</a:t>
            </a:r>
          </a:p>
          <a:p>
            <a:pPr marL="800100" lvl="1" indent="-342900" latinLnBrk="1">
              <a:buFont typeface="+mj-lt"/>
              <a:buAutoNum type="arabicPeriod" startAt="3"/>
            </a:pPr>
            <a:r>
              <a:rPr lang="en-IN" dirty="0"/>
              <a:t>Sagar </a:t>
            </a:r>
            <a:r>
              <a:rPr lang="en-IN" dirty="0" err="1"/>
              <a:t>Gaire</a:t>
            </a:r>
            <a:r>
              <a:rPr lang="en-IN" dirty="0"/>
              <a:t> Fast Food                          4.9</a:t>
            </a:r>
          </a:p>
          <a:p>
            <a:pPr marL="800100" lvl="1" indent="-342900" latinLnBrk="1">
              <a:buFont typeface="+mj-lt"/>
              <a:buAutoNum type="arabicPeriod" startAt="3"/>
            </a:pPr>
            <a:r>
              <a:rPr lang="en-IN" dirty="0"/>
              <a:t>Bao                                                         4.9</a:t>
            </a:r>
          </a:p>
          <a:p>
            <a:pPr lvl="1" latinLnBrk="1"/>
            <a:r>
              <a:rPr lang="en-IN" dirty="0"/>
              <a:t>                     …………………</a:t>
            </a:r>
          </a:p>
          <a:p>
            <a:pPr marL="800100" lvl="1" indent="-342900" latinLnBrk="1">
              <a:buFont typeface="+mj-lt"/>
              <a:buAutoNum type="arabicPeriod" startAt="7442"/>
            </a:pPr>
            <a:r>
              <a:rPr lang="en-IN" dirty="0"/>
              <a:t>  Punjabi Special                                0.0</a:t>
            </a:r>
          </a:p>
          <a:p>
            <a:pPr marL="800100" lvl="1" indent="-342900" latinLnBrk="1">
              <a:buFont typeface="+mj-lt"/>
              <a:buAutoNum type="arabicPeriod" startAt="7442"/>
            </a:pPr>
            <a:r>
              <a:rPr lang="en-IN" dirty="0"/>
              <a:t>  Zaika </a:t>
            </a:r>
            <a:r>
              <a:rPr lang="en-IN" dirty="0" err="1"/>
              <a:t>Muradabadi</a:t>
            </a:r>
            <a:r>
              <a:rPr lang="en-IN" dirty="0"/>
              <a:t>                            0.0</a:t>
            </a:r>
          </a:p>
          <a:p>
            <a:pPr marL="800100" lvl="1" indent="-342900" latinLnBrk="1">
              <a:buFont typeface="+mj-lt"/>
              <a:buAutoNum type="arabicPeriod" startAt="7442"/>
            </a:pPr>
            <a:r>
              <a:rPr lang="en-IN" dirty="0"/>
              <a:t>  Punjabi Shahi Chicken Soup           0.0</a:t>
            </a:r>
          </a:p>
          <a:p>
            <a:pPr marL="800100" lvl="1" indent="-342900" latinLnBrk="1">
              <a:buFont typeface="+mj-lt"/>
              <a:buAutoNum type="arabicPeriod" startAt="7442"/>
            </a:pPr>
            <a:r>
              <a:rPr lang="en-IN" dirty="0"/>
              <a:t>  Zaika Kathi Roll                                0.0</a:t>
            </a:r>
          </a:p>
          <a:p>
            <a:pPr marL="800100" lvl="1" indent="-342900" latinLnBrk="1">
              <a:buFont typeface="+mj-lt"/>
              <a:buAutoNum type="arabicPeriod" startAt="7442"/>
            </a:pPr>
            <a:r>
              <a:rPr lang="en-IN" dirty="0"/>
              <a:t>  Food On Wheels                               0.0</a:t>
            </a: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latinLnBrk="1">
              <a:buFont typeface="+mj-lt"/>
              <a:buAutoNum type="arabicPeriod" startAt="7442"/>
            </a:pP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08D957-DB46-1093-4741-6BAE79A8E2F4}"/>
              </a:ext>
            </a:extLst>
          </p:cNvPr>
          <p:cNvSpPr txBox="1"/>
          <p:nvPr/>
        </p:nvSpPr>
        <p:spPr>
          <a:xfrm>
            <a:off x="5845629" y="1538559"/>
            <a:ext cx="5910941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latinLnBrk="1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popularity of different chain restaurants based on the total votes are :</a:t>
            </a:r>
          </a:p>
          <a:p>
            <a:pPr latinLnBrk="1"/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 latinLnBrk="1"/>
            <a:r>
              <a:rPr lang="en-IN" b="1" dirty="0"/>
              <a:t>Restaurant Name                          Total Votes</a:t>
            </a:r>
          </a:p>
          <a:p>
            <a:pPr marL="800100" lvl="1" indent="-342900" latinLnBrk="1">
              <a:buFont typeface="+mj-lt"/>
              <a:buAutoNum type="arabicPeriod"/>
            </a:pPr>
            <a:endParaRPr lang="en-IN" dirty="0"/>
          </a:p>
          <a:p>
            <a:pPr marL="800100" lvl="1" indent="-342900" latinLnBrk="1">
              <a:buFont typeface="+mj-lt"/>
              <a:buAutoNum type="arabicPeriod"/>
            </a:pPr>
            <a:r>
              <a:rPr lang="en-IN" dirty="0"/>
              <a:t>Barbeque Nation                       28142</a:t>
            </a:r>
          </a:p>
          <a:p>
            <a:pPr marL="800100" lvl="1" indent="-342900" latinLnBrk="1">
              <a:buFont typeface="+mj-lt"/>
              <a:buAutoNum type="arabicPeriod"/>
            </a:pPr>
            <a:r>
              <a:rPr lang="en-IN" dirty="0"/>
              <a:t>AB's - Absolute Barbecues        13400</a:t>
            </a:r>
          </a:p>
          <a:p>
            <a:pPr marL="800100" lvl="1" indent="-342900" latinLnBrk="1">
              <a:buFont typeface="+mj-lt"/>
              <a:buAutoNum type="arabicPeriod"/>
            </a:pPr>
            <a:r>
              <a:rPr lang="en-IN" dirty="0"/>
              <a:t>Toit                                              10934</a:t>
            </a:r>
          </a:p>
          <a:p>
            <a:pPr marL="800100" lvl="1" indent="-342900" latinLnBrk="1">
              <a:buFont typeface="+mj-lt"/>
              <a:buAutoNum type="arabicPeriod"/>
            </a:pPr>
            <a:r>
              <a:rPr lang="en-IN" dirty="0"/>
              <a:t>Big Chill                                      10853</a:t>
            </a:r>
          </a:p>
          <a:p>
            <a:pPr marL="800100" lvl="1" indent="-342900" latinLnBrk="1">
              <a:buFont typeface="+mj-lt"/>
              <a:buAutoNum type="arabicPeriod"/>
            </a:pPr>
            <a:r>
              <a:rPr lang="en-IN" dirty="0" err="1"/>
              <a:t>Farzi</a:t>
            </a:r>
            <a:r>
              <a:rPr lang="en-IN" dirty="0"/>
              <a:t> Cafe                                   10098</a:t>
            </a:r>
          </a:p>
          <a:p>
            <a:pPr lvl="1" latinLnBrk="1"/>
            <a:r>
              <a:rPr lang="en-IN" dirty="0"/>
              <a:t>...                          ...          ...</a:t>
            </a:r>
          </a:p>
          <a:p>
            <a:pPr marL="800100" lvl="1" indent="-342900" latinLnBrk="1">
              <a:buFont typeface="+mj-lt"/>
              <a:buAutoNum type="arabicPeriod" startAt="7442"/>
            </a:pPr>
            <a:r>
              <a:rPr lang="en-IN" dirty="0"/>
              <a:t>  </a:t>
            </a:r>
            <a:r>
              <a:rPr lang="en-IN" dirty="0" err="1"/>
              <a:t>Frugurpop</a:t>
            </a:r>
            <a:r>
              <a:rPr lang="en-IN" dirty="0"/>
              <a:t>-  ibis New Delhi       0</a:t>
            </a:r>
          </a:p>
          <a:p>
            <a:pPr marL="800100" lvl="1" indent="-342900" latinLnBrk="1">
              <a:buFont typeface="+mj-lt"/>
              <a:buAutoNum type="arabicPeriod" startAt="7442"/>
            </a:pPr>
            <a:r>
              <a:rPr lang="en-IN" dirty="0"/>
              <a:t>  Frozen </a:t>
            </a:r>
            <a:r>
              <a:rPr lang="en-IN" dirty="0" err="1"/>
              <a:t>Grillz</a:t>
            </a:r>
            <a:r>
              <a:rPr lang="en-IN" dirty="0"/>
              <a:t>                               0</a:t>
            </a:r>
          </a:p>
          <a:p>
            <a:pPr marL="800100" lvl="1" indent="-342900" latinLnBrk="1">
              <a:buFont typeface="+mj-lt"/>
              <a:buAutoNum type="arabicPeriod" startAt="7442"/>
            </a:pPr>
            <a:r>
              <a:rPr lang="en-IN" dirty="0"/>
              <a:t>  Break Fast Junction                  0</a:t>
            </a:r>
          </a:p>
          <a:p>
            <a:pPr marL="800100" lvl="1" indent="-342900" latinLnBrk="1">
              <a:buFont typeface="+mj-lt"/>
              <a:buAutoNum type="arabicPeriod" startAt="7442"/>
            </a:pPr>
            <a:r>
              <a:rPr lang="en-IN" dirty="0"/>
              <a:t>  Pizza Hot                                    0</a:t>
            </a:r>
          </a:p>
          <a:p>
            <a:pPr marL="800100" lvl="1" indent="-342900" latinLnBrk="1">
              <a:buFont typeface="+mj-lt"/>
              <a:buAutoNum type="arabicPeriod" startAt="7442"/>
            </a:pPr>
            <a:r>
              <a:rPr lang="en-IN" dirty="0"/>
              <a:t>  Piyu Fast Food                           0</a:t>
            </a:r>
          </a:p>
          <a:p>
            <a:pPr lvl="1"/>
            <a:br>
              <a:rPr lang="en-IN" sz="2000" dirty="0"/>
            </a:b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81626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68905D-103A-AFD9-8BE7-4A4FA7332045}"/>
              </a:ext>
            </a:extLst>
          </p:cNvPr>
          <p:cNvSpPr txBox="1"/>
          <p:nvPr/>
        </p:nvSpPr>
        <p:spPr>
          <a:xfrm>
            <a:off x="346891" y="535426"/>
            <a:ext cx="655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 :</a:t>
            </a: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9DA8A6-99C0-C7B7-1489-2E9BAD1E35C7}"/>
              </a:ext>
            </a:extLst>
          </p:cNvPr>
          <p:cNvSpPr txBox="1"/>
          <p:nvPr/>
        </p:nvSpPr>
        <p:spPr>
          <a:xfrm>
            <a:off x="527594" y="1657014"/>
            <a:ext cx="1113681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analysis reveals a </a:t>
            </a:r>
            <a:r>
              <a:rPr lang="en-US" sz="2400" b="1" dirty="0"/>
              <a:t>diverse restaurant landscape</a:t>
            </a:r>
            <a:r>
              <a:rPr lang="en-US" sz="2400" dirty="0"/>
              <a:t> with a large number of independent outlets as well as well-established restaurant chains.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Popular chains such as </a:t>
            </a:r>
            <a:r>
              <a:rPr lang="en-US" sz="2400" b="1" dirty="0"/>
              <a:t>Cafe Coffee Day, Domino’s Pizza, and Subway</a:t>
            </a:r>
            <a:r>
              <a:rPr lang="en-US" sz="2400" dirty="0"/>
              <a:t> have a strong presence, indicating high customer demand and brand trust.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Geographic analysis highlights </a:t>
            </a:r>
            <a:r>
              <a:rPr lang="en-US" sz="2400" b="1" dirty="0"/>
              <a:t>clusters of restaurants in prime urban areas</a:t>
            </a:r>
            <a:r>
              <a:rPr lang="en-US" sz="2400" dirty="0"/>
              <a:t>, showing higher competition in these locations.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Overall, customer ratings and votes provide valuable insights into </a:t>
            </a:r>
            <a:r>
              <a:rPr lang="en-US" sz="2400" b="1" dirty="0"/>
              <a:t>customer preferences</a:t>
            </a:r>
            <a:r>
              <a:rPr lang="en-US" sz="2400" dirty="0"/>
              <a:t>, helping identify </a:t>
            </a:r>
            <a:r>
              <a:rPr lang="en-US" sz="2400" b="1" dirty="0"/>
              <a:t>top-performing restaurants and chains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102895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B47AF1-786D-F0BB-8C2A-90A1E13F3EA7}"/>
              </a:ext>
            </a:extLst>
          </p:cNvPr>
          <p:cNvSpPr txBox="1"/>
          <p:nvPr/>
        </p:nvSpPr>
        <p:spPr>
          <a:xfrm>
            <a:off x="2427514" y="2644170"/>
            <a:ext cx="61613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82491471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1183</TotalTime>
  <Words>1342</Words>
  <Application>Microsoft Office PowerPoint</Application>
  <PresentationFormat>Widescreen</PresentationFormat>
  <Paragraphs>215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Wingdings</vt:lpstr>
      <vt:lpstr>Custom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THANESH S</dc:creator>
  <cp:lastModifiedBy>THANESH S</cp:lastModifiedBy>
  <cp:revision>15</cp:revision>
  <dcterms:created xsi:type="dcterms:W3CDTF">2026-01-28T16:51:57Z</dcterms:created>
  <dcterms:modified xsi:type="dcterms:W3CDTF">2026-01-31T16:57:29Z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